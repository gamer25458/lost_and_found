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
  </p:notesMasterIdLst>
  <p:sldIdLst>
    <p:sldId id="256" r:id="rId2"/>
    <p:sldId id="261" r:id="rId3"/>
    <p:sldId id="284" r:id="rId4"/>
    <p:sldId id="283" r:id="rId5"/>
    <p:sldId id="282" r:id="rId6"/>
    <p:sldId id="273" r:id="rId7"/>
  </p:sldIdLst>
  <p:sldSz cx="12192000" cy="6858000"/>
  <p:notesSz cx="6858000" cy="9144000"/>
  <p:embeddedFontLst>
    <p:embeddedFont>
      <p:font typeface="Montserrat" panose="00000500000000000000" pitchFamily="2" charset="0"/>
      <p:regular r:id="rId9"/>
      <p:bold r:id="rId10"/>
      <p:italic r:id="rId11"/>
      <p:boldItalic r:id="rId12"/>
    </p:embeddedFont>
    <p:embeddedFont>
      <p:font typeface="Montserrat Medium" panose="00000600000000000000"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kk2K7RDACCuMG5pJsJyYVjvex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3" Type="http://schemas.openxmlformats.org/officeDocument/2006/relationships/slide" Target="slides/slide2.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0A9AA64B-E0BB-A6B9-E2E4-45C626733DDE}"/>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7B7036E5-8E6A-7130-45BE-9953A64E26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4:notes">
            <a:extLst>
              <a:ext uri="{FF2B5EF4-FFF2-40B4-BE49-F238E27FC236}">
                <a16:creationId xmlns:a16="http://schemas.microsoft.com/office/drawing/2014/main" id="{E198D9FA-CE15-C6E2-C831-12BD8ECA6C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4144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96C692B6-F23F-159C-A166-E1C539DA9C53}"/>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163D8042-AB9E-EEBD-45A1-A5BE5B949B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4:notes">
            <a:extLst>
              <a:ext uri="{FF2B5EF4-FFF2-40B4-BE49-F238E27FC236}">
                <a16:creationId xmlns:a16="http://schemas.microsoft.com/office/drawing/2014/main" id="{9105506E-15BC-B5DB-3F51-2B16A8EB99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7124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4C47741C-D5DF-EA42-44CD-80A37E85176B}"/>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F3F6BAFF-DA74-88FD-515E-31EBEF83FD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4:notes">
            <a:extLst>
              <a:ext uri="{FF2B5EF4-FFF2-40B4-BE49-F238E27FC236}">
                <a16:creationId xmlns:a16="http://schemas.microsoft.com/office/drawing/2014/main" id="{83DC13DB-5161-3AEC-D2A5-1D37B296EC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253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1"/>
          <p:cNvSpPr>
            <a:spLocks noGrp="1"/>
          </p:cNvSpPr>
          <p:nvPr>
            <p:ph type="pic" idx="2"/>
          </p:nvPr>
        </p:nvSpPr>
        <p:spPr>
          <a:xfrm>
            <a:off x="5183188" y="987425"/>
            <a:ext cx="6172200" cy="4873625"/>
          </a:xfrm>
          <a:prstGeom prst="rect">
            <a:avLst/>
          </a:prstGeom>
          <a:noFill/>
          <a:ln>
            <a:noFill/>
          </a:ln>
        </p:spPr>
      </p:sp>
      <p:sp>
        <p:nvSpPr>
          <p:cNvPr id="64" name="Google Shape;64;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p:nvPr/>
        </p:nvSpPr>
        <p:spPr>
          <a:xfrm>
            <a:off x="690576" y="3212687"/>
            <a:ext cx="6271800" cy="2554500"/>
          </a:xfrm>
          <a:prstGeom prst="rect">
            <a:avLst/>
          </a:prstGeom>
          <a:solidFill>
            <a:srgbClr val="9800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85" name="Google Shape;85;p1"/>
          <p:cNvSpPr/>
          <p:nvPr/>
        </p:nvSpPr>
        <p:spPr>
          <a:xfrm>
            <a:off x="436550" y="2915624"/>
            <a:ext cx="6390600" cy="2554500"/>
          </a:xfrm>
          <a:prstGeom prst="rect">
            <a:avLst/>
          </a:prstGeom>
          <a:solidFill>
            <a:srgbClr val="001C5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v</a:t>
            </a:r>
            <a:endParaRPr sz="1400" b="0" i="0" u="none" strike="noStrike" cap="none">
              <a:solidFill>
                <a:srgbClr val="000000"/>
              </a:solidFill>
              <a:latin typeface="Calibri"/>
              <a:ea typeface="Calibri"/>
              <a:cs typeface="Calibri"/>
              <a:sym typeface="Calibri"/>
            </a:endParaRPr>
          </a:p>
        </p:txBody>
      </p:sp>
      <p:sp>
        <p:nvSpPr>
          <p:cNvPr id="86" name="Google Shape;86;p1"/>
          <p:cNvSpPr txBox="1"/>
          <p:nvPr/>
        </p:nvSpPr>
        <p:spPr>
          <a:xfrm>
            <a:off x="638300" y="3392685"/>
            <a:ext cx="5987100" cy="800189"/>
          </a:xfrm>
          <a:prstGeom prst="rect">
            <a:avLst/>
          </a:prstGeom>
          <a:noFill/>
          <a:ln>
            <a:noFill/>
          </a:ln>
        </p:spPr>
        <p:txBody>
          <a:bodyPr spcFirstLastPara="1" wrap="square" lIns="91425" tIns="91425" rIns="91425" bIns="91425" anchor="t" anchorCtr="0">
            <a:spAutoFit/>
          </a:bodyPr>
          <a:lstStyle/>
          <a:p>
            <a:pPr lvl="0" algn="ctr">
              <a:buSzPts val="2800"/>
            </a:pPr>
            <a:r>
              <a:rPr lang="en-US" sz="2000" dirty="0">
                <a:solidFill>
                  <a:schemeClr val="accent3">
                    <a:lumMod val="75000"/>
                  </a:schemeClr>
                </a:solidFill>
              </a:rPr>
              <a:t>LOST AND FOUND ITEM MANAGEMENT SYSTEM</a:t>
            </a:r>
            <a:endParaRPr sz="2000" i="0" u="none" strike="noStrike" cap="none" dirty="0">
              <a:solidFill>
                <a:schemeClr val="accent3">
                  <a:lumMod val="75000"/>
                </a:schemeClr>
              </a:solidFill>
              <a:latin typeface="Montserrat"/>
              <a:ea typeface="Montserrat"/>
              <a:cs typeface="Montserrat"/>
              <a:sym typeface="Montserrat"/>
            </a:endParaRPr>
          </a:p>
        </p:txBody>
      </p:sp>
      <p:sp>
        <p:nvSpPr>
          <p:cNvPr id="88" name="Google Shape;88;p1"/>
          <p:cNvSpPr txBox="1"/>
          <p:nvPr/>
        </p:nvSpPr>
        <p:spPr>
          <a:xfrm>
            <a:off x="638300" y="4126830"/>
            <a:ext cx="5987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dirty="0">
                <a:solidFill>
                  <a:schemeClr val="lt1"/>
                </a:solidFill>
                <a:latin typeface="Montserrat Medium"/>
                <a:ea typeface="Montserrat Medium"/>
                <a:cs typeface="Montserrat Medium"/>
                <a:sym typeface="Montserrat Medium"/>
              </a:rPr>
              <a:t>24/03/2026</a:t>
            </a:r>
            <a:endParaRPr sz="2000" b="0" i="0" u="none" strike="noStrike" cap="none" dirty="0">
              <a:solidFill>
                <a:schemeClr val="lt1"/>
              </a:solidFill>
              <a:latin typeface="Montserrat Medium"/>
              <a:ea typeface="Montserrat Medium"/>
              <a:cs typeface="Montserrat Medium"/>
              <a:sym typeface="Montserrat Medium"/>
            </a:endParaRPr>
          </a:p>
        </p:txBody>
      </p:sp>
      <p:sp>
        <p:nvSpPr>
          <p:cNvPr id="89" name="Google Shape;89;p1"/>
          <p:cNvSpPr txBox="1"/>
          <p:nvPr/>
        </p:nvSpPr>
        <p:spPr>
          <a:xfrm>
            <a:off x="638300" y="4950565"/>
            <a:ext cx="5987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lt1"/>
                </a:solidFill>
                <a:latin typeface="Montserrat Medium"/>
                <a:ea typeface="Montserrat Medium"/>
                <a:cs typeface="Montserrat Medium"/>
                <a:sym typeface="Montserrat Medium"/>
              </a:rPr>
              <a:t>Johnson </a:t>
            </a:r>
            <a:r>
              <a:rPr lang="en-US" sz="2000" b="0" i="0" u="none" strike="noStrike" cap="none" dirty="0" err="1">
                <a:solidFill>
                  <a:schemeClr val="lt1"/>
                </a:solidFill>
                <a:latin typeface="Montserrat Medium"/>
                <a:ea typeface="Montserrat Medium"/>
                <a:cs typeface="Montserrat Medium"/>
                <a:sym typeface="Montserrat Medium"/>
              </a:rPr>
              <a:t>Ndile</a:t>
            </a:r>
            <a:r>
              <a:rPr lang="en-US" sz="2000" b="0" i="0" u="none" strike="noStrike" cap="none" dirty="0">
                <a:solidFill>
                  <a:schemeClr val="lt1"/>
                </a:solidFill>
                <a:latin typeface="Montserrat Medium"/>
                <a:ea typeface="Montserrat Medium"/>
                <a:cs typeface="Montserrat Medium"/>
                <a:sym typeface="Montserrat Medium"/>
              </a:rPr>
              <a:t>   dse-02-8698/2024</a:t>
            </a:r>
          </a:p>
        </p:txBody>
      </p:sp>
      <p:pic>
        <p:nvPicPr>
          <p:cNvPr id="90" name="Google Shape;90;p1"/>
          <p:cNvPicPr preferRelativeResize="0"/>
          <p:nvPr/>
        </p:nvPicPr>
        <p:blipFill rotWithShape="1">
          <a:blip r:embed="rId4">
            <a:alphaModFix/>
          </a:blip>
          <a:srcRect t="11299" b="11307"/>
          <a:stretch/>
        </p:blipFill>
        <p:spPr>
          <a:xfrm>
            <a:off x="74200" y="6064250"/>
            <a:ext cx="3961498" cy="76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4"/>
        <p:cNvGrpSpPr/>
        <p:nvPr/>
      </p:nvGrpSpPr>
      <p:grpSpPr>
        <a:xfrm>
          <a:off x="0" y="0"/>
          <a:ext cx="0" cy="0"/>
          <a:chOff x="0" y="0"/>
          <a:chExt cx="0" cy="0"/>
        </a:xfrm>
      </p:grpSpPr>
      <p:sp>
        <p:nvSpPr>
          <p:cNvPr id="125" name="Google Shape;12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Introduction</a:t>
            </a:r>
            <a:endParaRPr dirty="0"/>
          </a:p>
        </p:txBody>
      </p:sp>
      <p:sp>
        <p:nvSpPr>
          <p:cNvPr id="126" name="Google Shape;126;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spcBef>
                <a:spcPts val="0"/>
              </a:spcBef>
              <a:buSzPts val="2800"/>
              <a:buNone/>
            </a:pPr>
            <a:r>
              <a:rPr lang="en-US" dirty="0"/>
              <a:t>Currently, the management of lost and found items in institutions is mainly done in a traditional manner, where physical notice boards, registers, and word of mouth are used. This approach is associated with low rates of recovered items, high levels of complexity, and frustration among students.</a:t>
            </a:r>
          </a:p>
          <a:p>
            <a:pPr marL="228600" lvl="0" indent="-50800">
              <a:spcBef>
                <a:spcPts val="0"/>
              </a:spcBef>
              <a:buSzPts val="2800"/>
              <a:buNone/>
            </a:pPr>
            <a:endParaRPr lang="en-US" dirty="0"/>
          </a:p>
          <a:p>
            <a:pPr marL="228600" lvl="0" indent="-50800">
              <a:spcBef>
                <a:spcPts val="0"/>
              </a:spcBef>
              <a:buSzPts val="2800"/>
              <a:buNone/>
            </a:pPr>
            <a:r>
              <a:rPr lang="en-US" dirty="0"/>
              <a:t>This project aims at creating a web-based system for the management of lost and found items. The system will be accessible by any device connected to the school. The system gives real-time updates on the status of items.</a:t>
            </a:r>
            <a:endParaRPr dirty="0"/>
          </a:p>
        </p:txBody>
      </p:sp>
      <p:sp>
        <p:nvSpPr>
          <p:cNvPr id="127" name="Google Shape;127;p4"/>
          <p:cNvSpPr/>
          <p:nvPr/>
        </p:nvSpPr>
        <p:spPr>
          <a:xfrm>
            <a:off x="393025" y="232600"/>
            <a:ext cx="6063900" cy="39000"/>
          </a:xfrm>
          <a:prstGeom prst="rect">
            <a:avLst/>
          </a:prstGeom>
          <a:solidFill>
            <a:srgbClr val="001C5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4">
          <a:extLst>
            <a:ext uri="{FF2B5EF4-FFF2-40B4-BE49-F238E27FC236}">
              <a16:creationId xmlns:a16="http://schemas.microsoft.com/office/drawing/2014/main" id="{1E77E067-4359-6BA1-EA51-F238AB506BDD}"/>
            </a:ext>
          </a:extLst>
        </p:cNvPr>
        <p:cNvGrpSpPr/>
        <p:nvPr/>
      </p:nvGrpSpPr>
      <p:grpSpPr>
        <a:xfrm>
          <a:off x="0" y="0"/>
          <a:ext cx="0" cy="0"/>
          <a:chOff x="0" y="0"/>
          <a:chExt cx="0" cy="0"/>
        </a:xfrm>
      </p:grpSpPr>
      <p:sp>
        <p:nvSpPr>
          <p:cNvPr id="125" name="Google Shape;125;p4">
            <a:extLst>
              <a:ext uri="{FF2B5EF4-FFF2-40B4-BE49-F238E27FC236}">
                <a16:creationId xmlns:a16="http://schemas.microsoft.com/office/drawing/2014/main" id="{9F6A7E5D-699E-8319-9561-F0CDF61E955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Problem Statement</a:t>
            </a:r>
            <a:endParaRPr dirty="0"/>
          </a:p>
        </p:txBody>
      </p:sp>
      <p:sp>
        <p:nvSpPr>
          <p:cNvPr id="126" name="Google Shape;126;p4">
            <a:extLst>
              <a:ext uri="{FF2B5EF4-FFF2-40B4-BE49-F238E27FC236}">
                <a16:creationId xmlns:a16="http://schemas.microsoft.com/office/drawing/2014/main" id="{8AF1B4C3-E6E5-3D95-473A-D0A52F1C8CE0}"/>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50800">
              <a:spcBef>
                <a:spcPts val="0"/>
              </a:spcBef>
              <a:buSzPts val="2800"/>
              <a:buNone/>
            </a:pPr>
            <a:r>
              <a:rPr lang="en-US" dirty="0"/>
              <a:t>Manual lost and found management leads to:</a:t>
            </a:r>
          </a:p>
          <a:p>
            <a:pPr marL="228600" lvl="0" indent="-50800">
              <a:spcBef>
                <a:spcPts val="0"/>
              </a:spcBef>
              <a:buSzPts val="2800"/>
              <a:buNone/>
            </a:pPr>
            <a:endParaRPr lang="en-US" dirty="0"/>
          </a:p>
          <a:p>
            <a:pPr marL="228600" lvl="0" indent="-50800">
              <a:spcBef>
                <a:spcPts val="0"/>
              </a:spcBef>
              <a:buSzPts val="2800"/>
              <a:buNone/>
            </a:pPr>
            <a:endParaRPr lang="en-US" dirty="0"/>
          </a:p>
          <a:p>
            <a:pPr marL="228600" lvl="0" indent="-50800">
              <a:spcBef>
                <a:spcPts val="0"/>
              </a:spcBef>
              <a:buSzPts val="2800"/>
              <a:buNone/>
            </a:pPr>
            <a:r>
              <a:rPr lang="en-US" dirty="0"/>
              <a:t>Low recovery rate – items might or  never be recovered.</a:t>
            </a:r>
          </a:p>
          <a:p>
            <a:pPr marL="228600" lvl="0" indent="-50800">
              <a:spcBef>
                <a:spcPts val="0"/>
              </a:spcBef>
              <a:buSzPts val="2800"/>
              <a:buNone/>
            </a:pPr>
            <a:endParaRPr lang="en-US" dirty="0"/>
          </a:p>
          <a:p>
            <a:pPr marL="228600" lvl="0" indent="-50800">
              <a:spcBef>
                <a:spcPts val="0"/>
              </a:spcBef>
              <a:buSzPts val="2800"/>
              <a:buNone/>
            </a:pPr>
            <a:r>
              <a:rPr lang="en-US" dirty="0"/>
              <a:t>High administrative work – staff members waste hours managing paper records</a:t>
            </a:r>
          </a:p>
          <a:p>
            <a:pPr marL="228600" lvl="0" indent="-50800">
              <a:spcBef>
                <a:spcPts val="0"/>
              </a:spcBef>
              <a:buSzPts val="2800"/>
              <a:buNone/>
            </a:pPr>
            <a:endParaRPr lang="en-US" dirty="0"/>
          </a:p>
          <a:p>
            <a:pPr marL="228600" lvl="0" indent="-50800">
              <a:spcBef>
                <a:spcPts val="0"/>
              </a:spcBef>
              <a:buSzPts val="2800"/>
              <a:buNone/>
            </a:pPr>
            <a:r>
              <a:rPr lang="en-US" dirty="0"/>
              <a:t>Lack of transparency – there is no way to track the status of a report</a:t>
            </a:r>
          </a:p>
          <a:p>
            <a:pPr marL="228600" lvl="0" indent="-50800">
              <a:spcBef>
                <a:spcPts val="0"/>
              </a:spcBef>
              <a:buSzPts val="2800"/>
              <a:buNone/>
            </a:pPr>
            <a:endParaRPr lang="en-US" dirty="0"/>
          </a:p>
          <a:p>
            <a:pPr marL="228600" lvl="0" indent="-50800">
              <a:spcBef>
                <a:spcPts val="0"/>
              </a:spcBef>
              <a:buSzPts val="2800"/>
              <a:buNone/>
            </a:pPr>
            <a:r>
              <a:rPr lang="en-US" dirty="0"/>
              <a:t>Duplicate work – multiple staff members work on the same lost items</a:t>
            </a:r>
          </a:p>
          <a:p>
            <a:pPr marL="228600" lvl="0" indent="-50800">
              <a:spcBef>
                <a:spcPts val="0"/>
              </a:spcBef>
              <a:buSzPts val="2800"/>
              <a:buNone/>
            </a:pPr>
            <a:endParaRPr lang="en-US" dirty="0"/>
          </a:p>
          <a:p>
            <a:pPr marL="228600" lvl="0" indent="-50800">
              <a:spcBef>
                <a:spcPts val="0"/>
              </a:spcBef>
              <a:buSzPts val="2800"/>
              <a:buNone/>
            </a:pPr>
            <a:r>
              <a:rPr lang="en-US" dirty="0"/>
              <a:t>Frustration – users are forced to make physical visits, with no way of knowing</a:t>
            </a:r>
          </a:p>
          <a:p>
            <a:pPr marL="228600" lvl="0" indent="-50800">
              <a:spcBef>
                <a:spcPts val="0"/>
              </a:spcBef>
              <a:buSzPts val="2800"/>
              <a:buNone/>
            </a:pPr>
            <a:r>
              <a:rPr lang="en-US" dirty="0"/>
              <a:t>whether their items have been found or not.</a:t>
            </a:r>
          </a:p>
          <a:p>
            <a:pPr marL="228600" lvl="0" indent="-50800">
              <a:spcBef>
                <a:spcPts val="0"/>
              </a:spcBef>
              <a:buSzPts val="2800"/>
              <a:buNone/>
            </a:pPr>
            <a:endParaRPr lang="en-US" dirty="0"/>
          </a:p>
          <a:p>
            <a:pPr marL="228600" lvl="0" indent="-50800">
              <a:spcBef>
                <a:spcPts val="0"/>
              </a:spcBef>
              <a:buSzPts val="2800"/>
              <a:buNone/>
            </a:pPr>
            <a:r>
              <a:rPr lang="en-US" dirty="0"/>
              <a:t>The digital solution is therefore necessary to solve all the above problems.</a:t>
            </a:r>
            <a:endParaRPr dirty="0"/>
          </a:p>
        </p:txBody>
      </p:sp>
      <p:sp>
        <p:nvSpPr>
          <p:cNvPr id="127" name="Google Shape;127;p4">
            <a:extLst>
              <a:ext uri="{FF2B5EF4-FFF2-40B4-BE49-F238E27FC236}">
                <a16:creationId xmlns:a16="http://schemas.microsoft.com/office/drawing/2014/main" id="{B4DCD232-A9BC-FC6D-B635-A6F1A1744BCD}"/>
              </a:ext>
            </a:extLst>
          </p:cNvPr>
          <p:cNvSpPr/>
          <p:nvPr/>
        </p:nvSpPr>
        <p:spPr>
          <a:xfrm>
            <a:off x="393025" y="232600"/>
            <a:ext cx="6063900" cy="39000"/>
          </a:xfrm>
          <a:prstGeom prst="rect">
            <a:avLst/>
          </a:prstGeom>
          <a:solidFill>
            <a:srgbClr val="001C5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30691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4">
          <a:extLst>
            <a:ext uri="{FF2B5EF4-FFF2-40B4-BE49-F238E27FC236}">
              <a16:creationId xmlns:a16="http://schemas.microsoft.com/office/drawing/2014/main" id="{F32EC26B-B8BD-023E-1757-BCFEABAD2156}"/>
            </a:ext>
          </a:extLst>
        </p:cNvPr>
        <p:cNvGrpSpPr/>
        <p:nvPr/>
      </p:nvGrpSpPr>
      <p:grpSpPr>
        <a:xfrm>
          <a:off x="0" y="0"/>
          <a:ext cx="0" cy="0"/>
          <a:chOff x="0" y="0"/>
          <a:chExt cx="0" cy="0"/>
        </a:xfrm>
      </p:grpSpPr>
      <p:sp>
        <p:nvSpPr>
          <p:cNvPr id="125" name="Google Shape;125;p4">
            <a:extLst>
              <a:ext uri="{FF2B5EF4-FFF2-40B4-BE49-F238E27FC236}">
                <a16:creationId xmlns:a16="http://schemas.microsoft.com/office/drawing/2014/main" id="{8195FDCF-AA79-B05B-298A-D3AD5815C61E}"/>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Justification</a:t>
            </a:r>
            <a:endParaRPr dirty="0"/>
          </a:p>
        </p:txBody>
      </p:sp>
      <p:sp>
        <p:nvSpPr>
          <p:cNvPr id="126" name="Google Shape;126;p4">
            <a:extLst>
              <a:ext uri="{FF2B5EF4-FFF2-40B4-BE49-F238E27FC236}">
                <a16:creationId xmlns:a16="http://schemas.microsoft.com/office/drawing/2014/main" id="{3A9232FA-029D-8547-0194-13098D18A763}"/>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50800">
              <a:spcBef>
                <a:spcPts val="0"/>
              </a:spcBef>
              <a:buSzPts val="2800"/>
              <a:buNone/>
            </a:pPr>
            <a:r>
              <a:rPr lang="en-US" dirty="0"/>
              <a:t>The need for a digital system is justified because:</a:t>
            </a:r>
          </a:p>
          <a:p>
            <a:pPr marL="228600" lvl="0" indent="-50800">
              <a:spcBef>
                <a:spcPts val="0"/>
              </a:spcBef>
              <a:buSzPts val="2800"/>
              <a:buNone/>
            </a:pPr>
            <a:endParaRPr lang="en-US" dirty="0"/>
          </a:p>
          <a:p>
            <a:pPr marL="228600" lvl="0" indent="-50800">
              <a:spcBef>
                <a:spcPts val="0"/>
              </a:spcBef>
              <a:buSzPts val="2800"/>
              <a:buNone/>
            </a:pPr>
            <a:r>
              <a:rPr lang="en-US" dirty="0"/>
              <a:t>-Reduces administrative burden – record keeping is automated</a:t>
            </a:r>
          </a:p>
          <a:p>
            <a:pPr marL="228600" lvl="0" indent="-50800">
              <a:spcBef>
                <a:spcPts val="0"/>
              </a:spcBef>
              <a:buSzPts val="2800"/>
              <a:buNone/>
            </a:pPr>
            <a:endParaRPr lang="en-US" dirty="0"/>
          </a:p>
          <a:p>
            <a:pPr marL="228600" lvl="0" indent="-50800">
              <a:spcBef>
                <a:spcPts val="0"/>
              </a:spcBef>
              <a:buSzPts val="2800"/>
              <a:buNone/>
            </a:pPr>
            <a:r>
              <a:rPr lang="en-US" dirty="0"/>
              <a:t>-24/7 accessibility – no need to install software, accessible through the institution network</a:t>
            </a:r>
          </a:p>
          <a:p>
            <a:pPr marL="228600" lvl="0" indent="-50800">
              <a:spcBef>
                <a:spcPts val="0"/>
              </a:spcBef>
              <a:buSzPts val="2800"/>
              <a:buNone/>
            </a:pPr>
            <a:endParaRPr lang="en-US" dirty="0"/>
          </a:p>
          <a:p>
            <a:pPr marL="228600" lvl="0" indent="-50800">
              <a:spcBef>
                <a:spcPts val="0"/>
              </a:spcBef>
              <a:buSzPts val="2800"/>
              <a:buNone/>
            </a:pPr>
            <a:r>
              <a:rPr lang="en-US" dirty="0"/>
              <a:t>-Improves transparency – users can check the status of their reports at any time</a:t>
            </a:r>
          </a:p>
          <a:p>
            <a:pPr marL="228600" lvl="0" indent="-50800">
              <a:spcBef>
                <a:spcPts val="0"/>
              </a:spcBef>
              <a:buSzPts val="2800"/>
              <a:buNone/>
            </a:pPr>
            <a:endParaRPr lang="en-US" dirty="0"/>
          </a:p>
          <a:p>
            <a:pPr marL="228600" lvl="0" indent="-50800">
              <a:spcBef>
                <a:spcPts val="0"/>
              </a:spcBef>
              <a:buSzPts val="2800"/>
              <a:buNone/>
            </a:pPr>
            <a:r>
              <a:rPr lang="en-US" dirty="0"/>
              <a:t>-Digital records are reliable – they are not lost, and users can easily search through them</a:t>
            </a:r>
          </a:p>
          <a:p>
            <a:pPr marL="228600" lvl="0" indent="-50800">
              <a:spcBef>
                <a:spcPts val="0"/>
              </a:spcBef>
              <a:buSzPts val="2800"/>
              <a:buNone/>
            </a:pPr>
            <a:endParaRPr lang="en-US" dirty="0"/>
          </a:p>
          <a:p>
            <a:pPr marL="228600" lvl="0" indent="-50800">
              <a:spcBef>
                <a:spcPts val="0"/>
              </a:spcBef>
              <a:buSzPts val="2800"/>
              <a:buNone/>
            </a:pPr>
            <a:r>
              <a:rPr lang="en-US" dirty="0"/>
              <a:t>-Improves accountability – records the administrator handling each case to reduce cases of mismanagement</a:t>
            </a:r>
            <a:endParaRPr dirty="0"/>
          </a:p>
        </p:txBody>
      </p:sp>
      <p:sp>
        <p:nvSpPr>
          <p:cNvPr id="127" name="Google Shape;127;p4">
            <a:extLst>
              <a:ext uri="{FF2B5EF4-FFF2-40B4-BE49-F238E27FC236}">
                <a16:creationId xmlns:a16="http://schemas.microsoft.com/office/drawing/2014/main" id="{7D2D105B-AFBC-5279-7492-2390C25EA525}"/>
              </a:ext>
            </a:extLst>
          </p:cNvPr>
          <p:cNvSpPr/>
          <p:nvPr/>
        </p:nvSpPr>
        <p:spPr>
          <a:xfrm>
            <a:off x="393025" y="232600"/>
            <a:ext cx="6063900" cy="39000"/>
          </a:xfrm>
          <a:prstGeom prst="rect">
            <a:avLst/>
          </a:prstGeom>
          <a:solidFill>
            <a:srgbClr val="001C5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47757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4">
          <a:extLst>
            <a:ext uri="{FF2B5EF4-FFF2-40B4-BE49-F238E27FC236}">
              <a16:creationId xmlns:a16="http://schemas.microsoft.com/office/drawing/2014/main" id="{AB933E47-D251-D72D-3242-031B97A6FE0B}"/>
            </a:ext>
          </a:extLst>
        </p:cNvPr>
        <p:cNvGrpSpPr/>
        <p:nvPr/>
      </p:nvGrpSpPr>
      <p:grpSpPr>
        <a:xfrm>
          <a:off x="0" y="0"/>
          <a:ext cx="0" cy="0"/>
          <a:chOff x="0" y="0"/>
          <a:chExt cx="0" cy="0"/>
        </a:xfrm>
      </p:grpSpPr>
      <p:sp>
        <p:nvSpPr>
          <p:cNvPr id="125" name="Google Shape;125;p4">
            <a:extLst>
              <a:ext uri="{FF2B5EF4-FFF2-40B4-BE49-F238E27FC236}">
                <a16:creationId xmlns:a16="http://schemas.microsoft.com/office/drawing/2014/main" id="{D3ACDAD8-3497-2C2D-5213-10FE0CDB8F9C}"/>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Objectives</a:t>
            </a:r>
            <a:endParaRPr dirty="0"/>
          </a:p>
        </p:txBody>
      </p:sp>
      <p:sp>
        <p:nvSpPr>
          <p:cNvPr id="126" name="Google Shape;126;p4">
            <a:extLst>
              <a:ext uri="{FF2B5EF4-FFF2-40B4-BE49-F238E27FC236}">
                <a16:creationId xmlns:a16="http://schemas.microsoft.com/office/drawing/2014/main" id="{32EF036A-E29A-8109-6412-21F1F232AA8F}"/>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50800" algn="l" rtl="0">
              <a:lnSpc>
                <a:spcPct val="90000"/>
              </a:lnSpc>
              <a:spcBef>
                <a:spcPts val="0"/>
              </a:spcBef>
              <a:spcAft>
                <a:spcPts val="0"/>
              </a:spcAft>
              <a:buClr>
                <a:schemeClr val="dk1"/>
              </a:buClr>
              <a:buSzPts val="2800"/>
              <a:buNone/>
            </a:pPr>
            <a:r>
              <a:rPr lang="en-US" dirty="0">
                <a:latin typeface="Calibri" panose="020F0502020204030204" pitchFamily="34" charset="0"/>
                <a:cs typeface="Calibri" panose="020F0502020204030204" pitchFamily="34" charset="0"/>
              </a:rPr>
              <a:t>General Objective</a:t>
            </a:r>
          </a:p>
          <a:p>
            <a:pPr marL="228600" lvl="0" indent="-50800" algn="l" rtl="0">
              <a:lnSpc>
                <a:spcPct val="90000"/>
              </a:lnSpc>
              <a:spcBef>
                <a:spcPts val="0"/>
              </a:spcBef>
              <a:spcAft>
                <a:spcPts val="0"/>
              </a:spcAft>
              <a:buClr>
                <a:schemeClr val="dk1"/>
              </a:buClr>
              <a:buSzPts val="2800"/>
              <a:buNone/>
            </a:pPr>
            <a:endParaRPr lang="en-US" dirty="0">
              <a:latin typeface="Calibri" panose="020F0502020204030204" pitchFamily="34" charset="0"/>
              <a:cs typeface="Calibri" panose="020F0502020204030204" pitchFamily="34" charset="0"/>
            </a:endParaRPr>
          </a:p>
          <a:p>
            <a:pPr marL="228600" lvl="0" indent="-50800">
              <a:spcBef>
                <a:spcPts val="0"/>
              </a:spcBef>
              <a:buSzPts val="2800"/>
              <a:buNone/>
            </a:pPr>
            <a:r>
              <a:rPr lang="en-US" sz="2400" dirty="0">
                <a:latin typeface="Calibri" panose="020F0502020204030204" pitchFamily="34" charset="0"/>
                <a:cs typeface="Calibri" panose="020F0502020204030204" pitchFamily="34" charset="0"/>
              </a:rPr>
              <a:t>The objective of the project is to create and develop a web-based Lost and Found Item Management System that would provide institutions with an efficient, and transparent system of managing lost and found items.</a:t>
            </a:r>
          </a:p>
          <a:p>
            <a:pPr marL="749300" lvl="0" indent="-571500" algn="l" rtl="0">
              <a:lnSpc>
                <a:spcPct val="90000"/>
              </a:lnSpc>
              <a:spcBef>
                <a:spcPts val="0"/>
              </a:spcBef>
              <a:spcAft>
                <a:spcPts val="0"/>
              </a:spcAft>
              <a:buClr>
                <a:schemeClr val="dk1"/>
              </a:buClr>
              <a:buSzPts val="2800"/>
              <a:buFont typeface="+mj-lt"/>
              <a:buAutoNum type="romanLcPeriod"/>
            </a:pPr>
            <a:endParaRPr lang="en-US" dirty="0">
              <a:latin typeface="Calibri" panose="020F0502020204030204" pitchFamily="34" charset="0"/>
              <a:cs typeface="Calibri" panose="020F0502020204030204" pitchFamily="34" charset="0"/>
            </a:endParaRPr>
          </a:p>
          <a:p>
            <a:pPr marL="228600" lvl="0" indent="-50800" algn="l" rtl="0">
              <a:lnSpc>
                <a:spcPct val="90000"/>
              </a:lnSpc>
              <a:spcBef>
                <a:spcPts val="0"/>
              </a:spcBef>
              <a:spcAft>
                <a:spcPts val="0"/>
              </a:spcAft>
              <a:buClr>
                <a:schemeClr val="dk1"/>
              </a:buClr>
              <a:buSzPts val="2800"/>
              <a:buNone/>
            </a:pPr>
            <a:r>
              <a:rPr lang="en-US" dirty="0">
                <a:latin typeface="Calibri" panose="020F0502020204030204" pitchFamily="34" charset="0"/>
                <a:cs typeface="Calibri" panose="020F0502020204030204" pitchFamily="34" charset="0"/>
              </a:rPr>
              <a:t>Specific Objectives</a:t>
            </a:r>
          </a:p>
          <a:p>
            <a:pPr marL="228600" lvl="0" indent="-50800" algn="l" rtl="0">
              <a:lnSpc>
                <a:spcPct val="90000"/>
              </a:lnSpc>
              <a:spcBef>
                <a:spcPts val="0"/>
              </a:spcBef>
              <a:spcAft>
                <a:spcPts val="0"/>
              </a:spcAft>
              <a:buClr>
                <a:schemeClr val="dk1"/>
              </a:buClr>
              <a:buSzPts val="2800"/>
              <a:buNone/>
            </a:pPr>
            <a:endParaRPr lang="en-US" sz="2400" dirty="0">
              <a:latin typeface="Calibri" panose="020F0502020204030204" pitchFamily="34" charset="0"/>
              <a:cs typeface="Calibri" panose="020F0502020204030204" pitchFamily="34" charset="0"/>
            </a:endParaRPr>
          </a:p>
          <a:p>
            <a:pPr marL="228600" lvl="0" indent="-50800">
              <a:spcBef>
                <a:spcPts val="0"/>
              </a:spcBef>
              <a:buSzPts val="2800"/>
              <a:buNone/>
            </a:pPr>
            <a:r>
              <a:rPr lang="en-US" sz="2400" dirty="0">
                <a:latin typeface="Calibri" panose="020F0502020204030204" pitchFamily="34" charset="0"/>
                <a:cs typeface="Calibri" panose="020F0502020204030204" pitchFamily="34" charset="0"/>
              </a:rPr>
              <a:t>Create a digital platform that enables users to report lost items.</a:t>
            </a:r>
          </a:p>
          <a:p>
            <a:pPr marL="228600" lvl="0" indent="-50800">
              <a:spcBef>
                <a:spcPts val="0"/>
              </a:spcBef>
              <a:buSzPts val="2800"/>
              <a:buNone/>
            </a:pPr>
            <a:endParaRPr lang="en-US" sz="2400" dirty="0">
              <a:latin typeface="Calibri" panose="020F0502020204030204" pitchFamily="34" charset="0"/>
              <a:cs typeface="Calibri" panose="020F0502020204030204" pitchFamily="34" charset="0"/>
            </a:endParaRPr>
          </a:p>
          <a:p>
            <a:pPr marL="228600" lvl="0" indent="-50800">
              <a:spcBef>
                <a:spcPts val="0"/>
              </a:spcBef>
              <a:buSzPts val="2800"/>
              <a:buNone/>
            </a:pPr>
            <a:r>
              <a:rPr lang="en-US" sz="2400" dirty="0">
                <a:latin typeface="Calibri" panose="020F0502020204030204" pitchFamily="34" charset="0"/>
                <a:cs typeface="Calibri" panose="020F0502020204030204" pitchFamily="34" charset="0"/>
              </a:rPr>
              <a:t>Enhance the matching of lost items with their owners by using a database that enables searching.(efficient  Matching ) </a:t>
            </a:r>
          </a:p>
          <a:p>
            <a:pPr marL="228600" lvl="0" indent="-50800">
              <a:spcBef>
                <a:spcPts val="0"/>
              </a:spcBef>
              <a:buSzPts val="2800"/>
              <a:buNone/>
            </a:pPr>
            <a:endParaRPr lang="en-US" sz="2400" dirty="0">
              <a:latin typeface="Calibri" panose="020F0502020204030204" pitchFamily="34" charset="0"/>
              <a:cs typeface="Calibri" panose="020F0502020204030204" pitchFamily="34" charset="0"/>
            </a:endParaRPr>
          </a:p>
          <a:p>
            <a:pPr marL="228600" lvl="0" indent="-50800">
              <a:spcBef>
                <a:spcPts val="0"/>
              </a:spcBef>
              <a:buSzPts val="2800"/>
              <a:buNone/>
            </a:pPr>
            <a:r>
              <a:rPr lang="en-US" sz="2400" dirty="0">
                <a:latin typeface="Calibri" panose="020F0502020204030204" pitchFamily="34" charset="0"/>
                <a:cs typeface="Calibri" panose="020F0502020204030204" pitchFamily="34" charset="0"/>
              </a:rPr>
              <a:t>Give users the ability to track their reports in real time.(Real-Time Tracking )</a:t>
            </a:r>
          </a:p>
          <a:p>
            <a:pPr marL="228600" lvl="0" indent="-50800">
              <a:spcBef>
                <a:spcPts val="0"/>
              </a:spcBef>
              <a:buSzPts val="2800"/>
              <a:buNone/>
            </a:pPr>
            <a:endParaRPr lang="en-US" sz="2400" dirty="0">
              <a:latin typeface="Calibri" panose="020F0502020204030204" pitchFamily="34" charset="0"/>
              <a:cs typeface="Calibri" panose="020F0502020204030204" pitchFamily="34" charset="0"/>
            </a:endParaRPr>
          </a:p>
          <a:p>
            <a:pPr marL="228600" lvl="0" indent="-50800">
              <a:spcBef>
                <a:spcPts val="0"/>
              </a:spcBef>
              <a:buSzPts val="2800"/>
              <a:buNone/>
            </a:pPr>
            <a:r>
              <a:rPr lang="en-US" sz="2400" dirty="0">
                <a:latin typeface="Calibri" panose="020F0502020204030204" pitchFamily="34" charset="0"/>
                <a:cs typeface="Calibri" panose="020F0502020204030204" pitchFamily="34" charset="0"/>
              </a:rPr>
              <a:t>Enhance accountability among users by assigning administrators to reports.(Accountability &amp; Transparency )</a:t>
            </a:r>
            <a:endParaRPr lang="en-US" dirty="0">
              <a:latin typeface="Calibri" panose="020F0502020204030204" pitchFamily="34" charset="0"/>
              <a:cs typeface="Calibri" panose="020F0502020204030204" pitchFamily="34" charset="0"/>
            </a:endParaRPr>
          </a:p>
          <a:p>
            <a:pPr marL="749300" lvl="0" indent="-571500" algn="l" rtl="0">
              <a:lnSpc>
                <a:spcPct val="90000"/>
              </a:lnSpc>
              <a:spcBef>
                <a:spcPts val="0"/>
              </a:spcBef>
              <a:spcAft>
                <a:spcPts val="0"/>
              </a:spcAft>
              <a:buClr>
                <a:schemeClr val="dk1"/>
              </a:buClr>
              <a:buSzPts val="2800"/>
              <a:buFont typeface="+mj-lt"/>
              <a:buAutoNum type="romanLcPeriod"/>
            </a:pPr>
            <a:endParaRPr lang="en-US" dirty="0">
              <a:latin typeface="Calibri" panose="020F0502020204030204" pitchFamily="34" charset="0"/>
              <a:cs typeface="Calibri" panose="020F0502020204030204" pitchFamily="34" charset="0"/>
            </a:endParaRPr>
          </a:p>
          <a:p>
            <a:pPr marL="749300" lvl="0" indent="-571500" algn="l" rtl="0">
              <a:lnSpc>
                <a:spcPct val="90000"/>
              </a:lnSpc>
              <a:spcBef>
                <a:spcPts val="0"/>
              </a:spcBef>
              <a:spcAft>
                <a:spcPts val="0"/>
              </a:spcAft>
              <a:buClr>
                <a:schemeClr val="dk1"/>
              </a:buClr>
              <a:buSzPts val="2800"/>
              <a:buFont typeface="+mj-lt"/>
              <a:buAutoNum type="romanLcPeriod"/>
            </a:pPr>
            <a:endParaRPr lang="en-US" dirty="0">
              <a:latin typeface="Calibri" panose="020F0502020204030204" pitchFamily="34" charset="0"/>
              <a:cs typeface="Calibri" panose="020F0502020204030204" pitchFamily="34" charset="0"/>
            </a:endParaRPr>
          </a:p>
          <a:p>
            <a:pPr marL="749300" lvl="0" indent="-571500" algn="l" rtl="0">
              <a:lnSpc>
                <a:spcPct val="90000"/>
              </a:lnSpc>
              <a:spcBef>
                <a:spcPts val="0"/>
              </a:spcBef>
              <a:spcAft>
                <a:spcPts val="0"/>
              </a:spcAft>
              <a:buClr>
                <a:schemeClr val="dk1"/>
              </a:buClr>
              <a:buSzPts val="2800"/>
              <a:buFont typeface="+mj-lt"/>
              <a:buAutoNum type="romanLcPeriod"/>
            </a:pPr>
            <a:endParaRPr dirty="0">
              <a:latin typeface="Calibri" panose="020F0502020204030204" pitchFamily="34" charset="0"/>
              <a:cs typeface="Calibri" panose="020F0502020204030204" pitchFamily="34" charset="0"/>
            </a:endParaRPr>
          </a:p>
        </p:txBody>
      </p:sp>
      <p:sp>
        <p:nvSpPr>
          <p:cNvPr id="127" name="Google Shape;127;p4">
            <a:extLst>
              <a:ext uri="{FF2B5EF4-FFF2-40B4-BE49-F238E27FC236}">
                <a16:creationId xmlns:a16="http://schemas.microsoft.com/office/drawing/2014/main" id="{B9CB3E30-140D-5571-C115-1FFC3DEDF6E8}"/>
              </a:ext>
            </a:extLst>
          </p:cNvPr>
          <p:cNvSpPr/>
          <p:nvPr/>
        </p:nvSpPr>
        <p:spPr>
          <a:xfrm>
            <a:off x="393025" y="232600"/>
            <a:ext cx="6063900" cy="39000"/>
          </a:xfrm>
          <a:prstGeom prst="rect">
            <a:avLst/>
          </a:prstGeom>
          <a:solidFill>
            <a:srgbClr val="001C5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49206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52C367A-4701-7616-4FAF-0ED84074F28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2714919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2075</TotalTime>
  <Words>388</Words>
  <Application>Microsoft Office PowerPoint</Application>
  <PresentationFormat>Widescreen</PresentationFormat>
  <Paragraphs>51</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Arial</vt:lpstr>
      <vt:lpstr>Montserrat</vt:lpstr>
      <vt:lpstr>Montserrat Medium</vt:lpstr>
      <vt:lpstr>Office Theme</vt:lpstr>
      <vt:lpstr>PowerPoint Presentation</vt:lpstr>
      <vt:lpstr>Introduction</vt:lpstr>
      <vt:lpstr>Problem Statement</vt:lpstr>
      <vt:lpstr>Justification</vt:lpstr>
      <vt:lpstr>Objectives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Joseph O. Kwendo</dc:creator>
  <cp:lastModifiedBy>johnny M</cp:lastModifiedBy>
  <cp:revision>10</cp:revision>
  <dcterms:created xsi:type="dcterms:W3CDTF">2025-01-20T11:31:07Z</dcterms:created>
  <dcterms:modified xsi:type="dcterms:W3CDTF">2026-04-02T16:34:15Z</dcterms:modified>
</cp:coreProperties>
</file>